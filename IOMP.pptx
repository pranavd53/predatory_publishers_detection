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  <p:sldMasterId id="2147483665" r:id="rId2"/>
  </p:sldMasterIdLst>
  <p:notesMasterIdLst>
    <p:notesMasterId r:id="rId2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6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7" r:id="rId21"/>
    <p:sldId id="273" r:id="rId22"/>
    <p:sldId id="274" r:id="rId23"/>
    <p:sldId id="275" r:id="rId24"/>
  </p:sldIdLst>
  <p:sldSz cx="12192000" cy="6858000"/>
  <p:notesSz cx="7102475" cy="938847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169052-8720-3869-780F-C407FDCCAC23}" v="86" dt="2026-03-04T14:34:02.471"/>
    <p1510:client id="{2C69CDF6-4D0A-0910-436E-4F9E834634A7}" v="367" dt="2026-03-04T06:28:29.374"/>
  </p1510:revLst>
</p1510:revInfo>
</file>

<file path=ppt/tableStyles.xml><?xml version="1.0" encoding="utf-8"?>
<a:tblStyleLst xmlns:a="http://schemas.openxmlformats.org/drawingml/2006/main" def="{90651C3A-4460-11DB-9652-00E08161165F}">
  <a:tblStyle styleId="{E0E27A81-01B2-4FB0-AFC1-3EEC9902F47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 snapToGrid="0">
      <p:cViewPr varScale="1">
        <p:scale>
          <a:sx n="84" d="100"/>
          <a:sy n="84" d="100"/>
        </p:scale>
        <p:origin x="6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57175" y="835025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82950" y="5214300"/>
            <a:ext cx="6263227" cy="4939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397630" cy="54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431497" y="0"/>
            <a:ext cx="3397630" cy="54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428969"/>
            <a:ext cx="3397630" cy="54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431497" y="10428969"/>
            <a:ext cx="3397630" cy="54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buSzPts val="1400"/>
            </a:pPr>
            <a:fld id="{00000000-1234-1234-1234-123412341234}" type="slidenum">
              <a:rPr lang="en-US" smtClean="0"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buSzPts val="1400"/>
              </a:pPr>
              <a:t>‹#›</a:t>
            </a:fld>
            <a:endParaRPr lang="en-US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:notes"/>
          <p:cNvSpPr txBox="1">
            <a:spLocks noGrp="1"/>
          </p:cNvSpPr>
          <p:nvPr>
            <p:ph type="body" idx="1"/>
          </p:nvPr>
        </p:nvSpPr>
        <p:spPr>
          <a:xfrm>
            <a:off x="782950" y="5214300"/>
            <a:ext cx="6263227" cy="4939669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10" name="Google Shape;1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7175" y="835025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 txBox="1">
            <a:spLocks noGrp="1"/>
          </p:cNvSpPr>
          <p:nvPr>
            <p:ph type="body" idx="1"/>
          </p:nvPr>
        </p:nvSpPr>
        <p:spPr>
          <a:xfrm>
            <a:off x="782950" y="5214300"/>
            <a:ext cx="6263227" cy="4939669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0" name="Google Shape;1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7175" y="835025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>
            <a:spLocks noGrp="1"/>
          </p:cNvSpPr>
          <p:nvPr>
            <p:ph type="body" idx="1"/>
          </p:nvPr>
        </p:nvSpPr>
        <p:spPr>
          <a:xfrm>
            <a:off x="782950" y="5214300"/>
            <a:ext cx="6263227" cy="4939669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6" name="Google Shape;12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7175" y="835025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782950" y="5214300"/>
            <a:ext cx="6263227" cy="4939669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7175" y="835025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782950" y="5214300"/>
            <a:ext cx="6263227" cy="4939669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7175" y="835025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782950" y="5214300"/>
            <a:ext cx="6263227" cy="4939669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48" name="Google Shape;1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7175" y="835025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782950" y="5214300"/>
            <a:ext cx="6263227" cy="4939669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7175" y="835025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>
            <a:spLocks noGrp="1"/>
          </p:cNvSpPr>
          <p:nvPr>
            <p:ph type="body" idx="1"/>
          </p:nvPr>
        </p:nvSpPr>
        <p:spPr>
          <a:xfrm>
            <a:off x="782950" y="5214300"/>
            <a:ext cx="6263227" cy="4939669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63" name="Google Shape;16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7175" y="835025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 txBox="1">
            <a:spLocks noGrp="1"/>
          </p:cNvSpPr>
          <p:nvPr>
            <p:ph type="body" idx="1"/>
          </p:nvPr>
        </p:nvSpPr>
        <p:spPr>
          <a:xfrm>
            <a:off x="782950" y="5214300"/>
            <a:ext cx="6263227" cy="4939669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69" name="Google Shape;16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7175" y="835025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 txBox="1">
            <a:spLocks noGrp="1"/>
          </p:cNvSpPr>
          <p:nvPr>
            <p:ph type="body" idx="1"/>
          </p:nvPr>
        </p:nvSpPr>
        <p:spPr>
          <a:xfrm>
            <a:off x="782950" y="5214300"/>
            <a:ext cx="6263227" cy="4939669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78" name="Google Shape;17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7175" y="835025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:notes"/>
          <p:cNvSpPr txBox="1">
            <a:spLocks noGrp="1"/>
          </p:cNvSpPr>
          <p:nvPr>
            <p:ph type="body" idx="1"/>
          </p:nvPr>
        </p:nvSpPr>
        <p:spPr>
          <a:xfrm>
            <a:off x="782950" y="5214300"/>
            <a:ext cx="6263227" cy="4939669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83" name="Google Shape;18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7175" y="835025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 txBox="1">
            <a:spLocks noGrp="1"/>
          </p:cNvSpPr>
          <p:nvPr>
            <p:ph type="body" idx="1"/>
          </p:nvPr>
        </p:nvSpPr>
        <p:spPr>
          <a:xfrm>
            <a:off x="782950" y="5214300"/>
            <a:ext cx="6263227" cy="4939669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88" name="Google Shape;18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7175" y="835025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 txBox="1">
            <a:spLocks noGrp="1"/>
          </p:cNvSpPr>
          <p:nvPr>
            <p:ph type="body" idx="1"/>
          </p:nvPr>
        </p:nvSpPr>
        <p:spPr>
          <a:xfrm>
            <a:off x="782950" y="5214300"/>
            <a:ext cx="6263227" cy="4939669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95" name="Google Shape;19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7175" y="835025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:notes"/>
          <p:cNvSpPr txBox="1">
            <a:spLocks noGrp="1"/>
          </p:cNvSpPr>
          <p:nvPr>
            <p:ph type="body" idx="1"/>
          </p:nvPr>
        </p:nvSpPr>
        <p:spPr>
          <a:xfrm>
            <a:off x="782950" y="5214300"/>
            <a:ext cx="6263227" cy="4939669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02" name="Google Shape;20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7175" y="835025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7175" y="835025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" name="Google Shape;208;p16:notes"/>
          <p:cNvSpPr txBox="1">
            <a:spLocks noGrp="1"/>
          </p:cNvSpPr>
          <p:nvPr>
            <p:ph type="body" idx="1"/>
          </p:nvPr>
        </p:nvSpPr>
        <p:spPr>
          <a:xfrm>
            <a:off x="782950" y="5214300"/>
            <a:ext cx="6263227" cy="4939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09" name="Google Shape;209;p16:notes"/>
          <p:cNvSpPr txBox="1">
            <a:spLocks noGrp="1"/>
          </p:cNvSpPr>
          <p:nvPr>
            <p:ph type="sldNum" idx="12"/>
          </p:nvPr>
        </p:nvSpPr>
        <p:spPr>
          <a:xfrm>
            <a:off x="4431497" y="10428969"/>
            <a:ext cx="3397630" cy="54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buSzPts val="1400"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buSzPts val="1400"/>
              </a:pPr>
              <a:t>16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5:notes"/>
          <p:cNvSpPr txBox="1">
            <a:spLocks noGrp="1"/>
          </p:cNvSpPr>
          <p:nvPr>
            <p:ph type="body" idx="1"/>
          </p:nvPr>
        </p:nvSpPr>
        <p:spPr>
          <a:xfrm>
            <a:off x="782950" y="5214300"/>
            <a:ext cx="6263227" cy="4939669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17" name="Google Shape;21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7175" y="835025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7:notes"/>
          <p:cNvSpPr txBox="1">
            <a:spLocks noGrp="1"/>
          </p:cNvSpPr>
          <p:nvPr>
            <p:ph type="body" idx="1"/>
          </p:nvPr>
        </p:nvSpPr>
        <p:spPr>
          <a:xfrm>
            <a:off x="782950" y="5214300"/>
            <a:ext cx="6263227" cy="4939669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25" name="Google Shape;22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7175" y="835025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8:notes"/>
          <p:cNvSpPr txBox="1">
            <a:spLocks noGrp="1"/>
          </p:cNvSpPr>
          <p:nvPr>
            <p:ph type="body" idx="1"/>
          </p:nvPr>
        </p:nvSpPr>
        <p:spPr>
          <a:xfrm>
            <a:off x="782950" y="5214300"/>
            <a:ext cx="6263227" cy="4939669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38" name="Google Shape;23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7175" y="835025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9:notes"/>
          <p:cNvSpPr txBox="1">
            <a:spLocks noGrp="1"/>
          </p:cNvSpPr>
          <p:nvPr>
            <p:ph type="body" idx="1"/>
          </p:nvPr>
        </p:nvSpPr>
        <p:spPr>
          <a:xfrm>
            <a:off x="782950" y="5214300"/>
            <a:ext cx="6263227" cy="4939669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45" name="Google Shape;24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7175" y="835025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0:notes"/>
          <p:cNvSpPr txBox="1">
            <a:spLocks noGrp="1"/>
          </p:cNvSpPr>
          <p:nvPr>
            <p:ph type="body" idx="1"/>
          </p:nvPr>
        </p:nvSpPr>
        <p:spPr>
          <a:xfrm>
            <a:off x="782950" y="5214300"/>
            <a:ext cx="6263227" cy="4939669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53" name="Google Shape;25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7175" y="835025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" type="twoObj">
  <p:cSld name="TWO_OBJECTS">
    <p:bg>
      <p:bgPr>
        <a:solidFill>
          <a:schemeClr val="lt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" type="obj">
  <p:cSld name="OBJECT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">
  <p:cSld name="OBJECT 2">
    <p:bg>
      <p:bgPr>
        <a:solidFill>
          <a:schemeClr val="lt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bg>
      <p:bgPr>
        <a:solidFill>
          <a:schemeClr val="lt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 2">
    <p:bg>
      <p:bgPr>
        <a:solidFill>
          <a:schemeClr val="lt1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EXT" type="vertTx">
  <p:cSld name="VERTICAL_TEXT">
    <p:bg>
      <p:bgPr>
        <a:solidFill>
          <a:schemeClr val="lt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400"/>
            <a:ext cx="4350960" cy="1051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ITLE_AND_VERTICAL_TEXT" type="vertTitleAndTx">
  <p:cSld name="VERTICAL_TITLE_AND_VERTICAL_TEXT"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>
            <a:spLocks noGrp="1"/>
          </p:cNvSpPr>
          <p:nvPr>
            <p:ph type="title"/>
          </p:nvPr>
        </p:nvSpPr>
        <p:spPr>
          <a:xfrm rot="5400000">
            <a:off x="7133400" y="1956240"/>
            <a:ext cx="5811480" cy="262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1"/>
          </p:nvPr>
        </p:nvSpPr>
        <p:spPr>
          <a:xfrm rot="5400000">
            <a:off x="1800000" y="-596160"/>
            <a:ext cx="5811480" cy="773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">
  <p:cSld name="OBJECT 3"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body" idx="1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">
  <p:cSld name="TWO_OBJECTS 2">
    <p:bg>
      <p:bgPr>
        <a:solidFill>
          <a:schemeClr val="lt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2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_WITH_TEXT" type="twoTxTwoObj">
  <p:cSld name="TWO_OBJECTS_WITH_TEXT"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body" idx="1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2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3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body" idx="4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_WITH_CAPTION_TEXT" type="objTx">
  <p:cSld name="OBJECT_WITH_CAPTION_TEXT">
    <p:bg>
      <p:bgPr>
        <a:solidFill>
          <a:schemeClr val="lt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1" name="Google Shape;91;p15"/>
          <p:cNvSpPr txBox="1">
            <a:spLocks noGrp="1"/>
          </p:cNvSpPr>
          <p:nvPr>
            <p:ph type="body" idx="1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body" idx="2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_WITH_CAPTION_TEXT" type="picTx">
  <p:cSld name="PICTURE_WITH_CAPTION_TEXT">
    <p:bg>
      <p:bgPr>
        <a:solidFill>
          <a:schemeClr val="lt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body" idx="1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2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bmcmedicine.biomedcentral.com/articles/10.1186/s12916-017-0785-9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beallslist.net" TargetMode="External"/><Relationship Id="rId4" Type="http://schemas.openxmlformats.org/officeDocument/2006/relationships/hyperlink" Target="https://aclanthology.org/N19-1423/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"/>
          <p:cNvSpPr txBox="1">
            <a:spLocks noGrp="1"/>
          </p:cNvSpPr>
          <p:nvPr>
            <p:ph type="ctrTitle"/>
          </p:nvPr>
        </p:nvSpPr>
        <p:spPr>
          <a:xfrm>
            <a:off x="837725" y="2517058"/>
            <a:ext cx="11017392" cy="10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3200"/>
            </a:pPr>
            <a:r>
              <a:rPr lang="en-US" sz="2700" dirty="0">
                <a:latin typeface="Times New Roman"/>
                <a:cs typeface="Times New Roman"/>
              </a:rPr>
              <a:t>Intelligent Framework for Detecting Predatory Publishing Venues</a:t>
            </a:r>
            <a:endParaRPr lang="en-US" sz="2700" b="1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61" name="Google Shape;261;p1"/>
          <p:cNvSpPr txBox="1">
            <a:spLocks noGrp="1"/>
          </p:cNvSpPr>
          <p:nvPr>
            <p:ph type="subTitle" idx="1"/>
          </p:nvPr>
        </p:nvSpPr>
        <p:spPr>
          <a:xfrm>
            <a:off x="6741842" y="3778073"/>
            <a:ext cx="5113275" cy="18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n-US" sz="2000" b="1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</a:t>
            </a:r>
            <a:r>
              <a:rPr lang="en-US" sz="2000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:-</a:t>
            </a: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n-US" sz="2000" dirty="0">
                <a:solidFill>
                  <a:srgbClr val="262626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1. AITHAGONI SPANDANA - 23B81A05B0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lvl="0" indent="0" algn="l" rtl="0">
              <a:lnSpc>
                <a:spcPct val="80000"/>
              </a:lnSpc>
              <a:spcBef>
                <a:spcPts val="755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2. D. SRICHARANPRANAV - 23B81A05B3</a:t>
            </a:r>
            <a:endParaRPr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n-US" sz="2000" b="1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</a:t>
            </a:r>
            <a:endParaRPr sz="2000" dirty="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1"/>
          <p:cNvSpPr txBox="1"/>
          <p:nvPr/>
        </p:nvSpPr>
        <p:spPr>
          <a:xfrm>
            <a:off x="1827611" y="289671"/>
            <a:ext cx="9441900" cy="23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CVR COLLEGE OF ENGINEERING</a:t>
            </a:r>
            <a:br>
              <a:rPr lang="en-US" sz="2400" b="0" i="0" u="none" strike="noStrike" cap="none" dirty="0">
                <a:latin typeface="Times New Roman"/>
                <a:ea typeface="Times New Roman"/>
                <a:cs typeface="Times New Roman"/>
              </a:rPr>
            </a:b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(An UGC Autonomous Institute, Accredited by NAAC with ‘A’ Grade)</a:t>
            </a:r>
            <a:br>
              <a:rPr lang="en-US" sz="2400" b="0" i="0" u="none" strike="noStrike" cap="none" dirty="0">
                <a:latin typeface="Times New Roman"/>
                <a:ea typeface="Times New Roman"/>
                <a:cs typeface="Times New Roman"/>
              </a:rPr>
            </a:b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CSE</a:t>
            </a:r>
            <a:br>
              <a:rPr lang="en-US" sz="2400" b="1" i="0" u="none" strike="noStrike" cap="none" dirty="0">
                <a:latin typeface="Times New Roman"/>
                <a:ea typeface="Times New Roman"/>
                <a:cs typeface="Times New Roman"/>
              </a:rPr>
            </a:b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 Tech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CSE-B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III Year II Semester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Industrial Oriented Mini Project</a:t>
            </a:r>
            <a:endParaRPr sz="2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3" name="Google Shape;26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0793" y="387886"/>
            <a:ext cx="1461393" cy="153193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C7486E4-1C0D-2056-9449-783075E9C995}"/>
              </a:ext>
            </a:extLst>
          </p:cNvPr>
          <p:cNvSpPr txBox="1"/>
          <p:nvPr/>
        </p:nvSpPr>
        <p:spPr>
          <a:xfrm>
            <a:off x="837725" y="3778073"/>
            <a:ext cx="3535103" cy="32444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/>
                <a:ea typeface="Segoe UI"/>
                <a:cs typeface="Times New Roman"/>
              </a:rPr>
              <a:t>SECTION COORDINATOR:</a:t>
            </a:r>
            <a:r>
              <a:rPr lang="en-US" sz="2000" dirty="0">
                <a:latin typeface="Times New Roman"/>
                <a:ea typeface="Segoe UI"/>
                <a:cs typeface="Times New Roman"/>
              </a:rPr>
              <a:t>​</a:t>
            </a:r>
          </a:p>
          <a:p>
            <a:r>
              <a:rPr lang="en-US" sz="2000" dirty="0">
                <a:latin typeface="Times New Roman"/>
                <a:ea typeface="Segoe UI"/>
                <a:cs typeface="Times New Roman"/>
              </a:rPr>
              <a:t>Ms. S. Satya Sudha​</a:t>
            </a:r>
          </a:p>
          <a:p>
            <a:r>
              <a:rPr lang="en-US" sz="1900" dirty="0">
                <a:latin typeface="Times New Roman"/>
                <a:cs typeface="Times New Roman"/>
              </a:rPr>
              <a:t>Assistant Professor</a:t>
            </a:r>
            <a:br>
              <a:rPr lang="en-US" sz="2000" dirty="0">
                <a:latin typeface="Times New Roman"/>
                <a:ea typeface="Segoe UI"/>
                <a:cs typeface="Times New Roman"/>
              </a:rPr>
            </a:b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b="1" dirty="0">
                <a:latin typeface="Times New Roman"/>
                <a:cs typeface="Times New Roman"/>
              </a:rPr>
              <a:t>PROJECT SUPERVISOR: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cs typeface="Times New Roman"/>
              </a:rPr>
              <a:t>Dr. S. Srinivasulu</a:t>
            </a:r>
          </a:p>
          <a:p>
            <a:r>
              <a:rPr lang="en-US" sz="1900" dirty="0">
                <a:latin typeface="Times New Roman"/>
                <a:cs typeface="Times New Roman"/>
              </a:rPr>
              <a:t>Associate Professor</a:t>
            </a:r>
          </a:p>
          <a:p>
            <a:pPr>
              <a:lnSpc>
                <a:spcPts val="3075"/>
              </a:lnSpc>
            </a:pPr>
            <a:endParaRPr lang="en-US" sz="2000" dirty="0">
              <a:latin typeface="Times New Roman"/>
              <a:cs typeface="Segoe UI"/>
            </a:endParaRPr>
          </a:p>
          <a:p>
            <a:r>
              <a:rPr lang="en-US" sz="2000" dirty="0">
                <a:latin typeface="Times New Roman"/>
                <a:cs typeface="Segoe UI"/>
              </a:rPr>
              <a:t>​</a:t>
            </a:r>
            <a:endParaRPr lang="en-US" sz="2000" dirty="0"/>
          </a:p>
          <a:p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>
            <a:spLocks noGrp="1"/>
          </p:cNvSpPr>
          <p:nvPr>
            <p:ph type="title"/>
          </p:nvPr>
        </p:nvSpPr>
        <p:spPr>
          <a:xfrm>
            <a:off x="838080" y="571518"/>
            <a:ext cx="10515240" cy="1050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Google Shape;123;p20"/>
          <p:cNvSpPr txBox="1">
            <a:spLocks noGrp="1"/>
          </p:cNvSpPr>
          <p:nvPr>
            <p:ph type="body" idx="1"/>
          </p:nvPr>
        </p:nvSpPr>
        <p:spPr>
          <a:xfrm>
            <a:off x="838080" y="1622323"/>
            <a:ext cx="10515240" cy="4554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Abstract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Introduction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Literature Survey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Existing System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Proposed System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lang="en-US" sz="2600" b="0" i="0" u="none" strike="noStrike" cap="none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Modules 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Architectural Design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ER Diagrams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References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Future Courses and Actions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3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>
            <a:spLocks noGrp="1"/>
          </p:cNvSpPr>
          <p:nvPr>
            <p:ph type="body" idx="1"/>
          </p:nvPr>
        </p:nvSpPr>
        <p:spPr>
          <a:xfrm>
            <a:off x="444600" y="762120"/>
            <a:ext cx="11341440" cy="5638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23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Framework for Detecting Predatory Publishing Venues is an AI-based system that helps to identify whether a journal or conference is predatory or genuine.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studies important details such as journal website content, indexing claims, peer review policies, publication time, fees and editorial board information. This data is stored and managed using a SQLite database. By using Machine Learning and Natural Language Processing (NLP), the system learns patterns from previous data to find suspicious publishing practices.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using advanced models like BERT, the system predicts whether a publishing venue is safe or risky. This helps researchers avoid fake journals, choose the right platform for publishing, and maintain research quality and integrity.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25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9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21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21"/>
          <p:cNvSpPr/>
          <p:nvPr/>
        </p:nvSpPr>
        <p:spPr>
          <a:xfrm>
            <a:off x="128040" y="0"/>
            <a:ext cx="12063960" cy="683640"/>
          </a:xfrm>
          <a:prstGeom prst="rect">
            <a:avLst/>
          </a:prstGeom>
          <a:solidFill>
            <a:srgbClr val="E1E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u="none" strike="noStrik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</a:t>
            </a:r>
            <a:endParaRPr sz="3000" b="0" u="none" strike="noStrik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22"/>
          <p:cNvSpPr/>
          <p:nvPr/>
        </p:nvSpPr>
        <p:spPr>
          <a:xfrm>
            <a:off x="0" y="0"/>
            <a:ext cx="12063960" cy="683640"/>
          </a:xfrm>
          <a:prstGeom prst="rect">
            <a:avLst/>
          </a:prstGeom>
          <a:solidFill>
            <a:srgbClr val="E1E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u="none" strike="noStrik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Introduction</a:t>
            </a:r>
            <a:endParaRPr sz="3000" b="1" u="none" strike="noStrik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37" name="Google Shape;137;p22"/>
          <p:cNvSpPr txBox="1">
            <a:spLocks noGrp="1"/>
          </p:cNvSpPr>
          <p:nvPr>
            <p:ph type="body" idx="1"/>
          </p:nvPr>
        </p:nvSpPr>
        <p:spPr>
          <a:xfrm>
            <a:off x="476700" y="950190"/>
            <a:ext cx="11238600" cy="553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today’s research environment, the number of predatory journals and conferences has increased a lot. Researchers often find it difficult to identify whether a publishing venue is genuine or fake. Checking journals manually is time-consuming, confusing and not always reliable.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Intelligent Framework for Detecting Predatory Publishing Venues is an AI-based system that uses Machine Learning and Natural Language Processing (NLP) to analyze journal website content, indexing claims, peer review policies, publication fees and editorial details.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learns patterns from past data and automatically classifies a publishing venue as Predatory or Legitimate. It helps researchers make safe publishing decisions, protect their academic reputation and maintain research integrity.</a:t>
            </a:r>
          </a:p>
          <a:p>
            <a:pPr marL="285750" marR="0" lvl="0" indent="-17145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3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/>
          <p:nvPr/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3"/>
          <p:cNvSpPr/>
          <p:nvPr/>
        </p:nvSpPr>
        <p:spPr>
          <a:xfrm>
            <a:off x="556532" y="643467"/>
            <a:ext cx="11210925" cy="744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u="none" strike="noStrik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 </a:t>
            </a:r>
            <a:endParaRPr sz="3000" b="0" u="none" strike="noStrik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200" b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5" name="Google Shape;145;p23"/>
          <p:cNvGraphicFramePr/>
          <p:nvPr>
            <p:extLst>
              <p:ext uri="{D42A27DB-BD31-4B8C-83A1-F6EECF244321}">
                <p14:modId xmlns:p14="http://schemas.microsoft.com/office/powerpoint/2010/main" val="1766423433"/>
              </p:ext>
            </p:extLst>
          </p:nvPr>
        </p:nvGraphicFramePr>
        <p:xfrm>
          <a:off x="39329" y="1396588"/>
          <a:ext cx="12152675" cy="4838900"/>
        </p:xfrm>
        <a:graphic>
          <a:graphicData uri="http://schemas.openxmlformats.org/drawingml/2006/table">
            <a:tbl>
              <a:tblPr>
                <a:solidFill>
                  <a:schemeClr val="lt1"/>
                </a:solidFill>
                <a:tableStyleId>{E0E27A81-01B2-4FB0-AFC1-3EEC9902F470}</a:tableStyleId>
              </a:tblPr>
              <a:tblGrid>
                <a:gridCol w="153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8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97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9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98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b="1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sz="20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b="1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Paper</a:t>
                      </a:r>
                      <a:endParaRPr sz="20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b="1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sz="20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b="1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sz="20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b="1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Gaps in Literature</a:t>
                      </a:r>
                      <a:endParaRPr sz="20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17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b="1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Beall J</a:t>
                      </a:r>
                      <a:endParaRPr sz="2000" b="1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Beall’s Criteria for Identifying Predatory Journals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Rule-based evaluation using predefined journal indicators.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structured guidelines to detect suspicious journals.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process; not automated or scalable.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Shamsheer L. et al</a:t>
                      </a:r>
                      <a:endParaRPr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Potential Predatory and Legitimate Biomedical Journals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Comparative analysis of journal characteristics.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Identifies major differences in peer review and indexing claims.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automated detection model implemented.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3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Dadkhah M. et al</a:t>
                      </a:r>
                      <a:endParaRPr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for Predatory Journal Detection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Supervised machine learning using website text features.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detection accuracy over manual methods.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feature set; lacks advanced NLP models.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/>
          <p:nvPr/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4"/>
          <p:cNvSpPr/>
          <p:nvPr/>
        </p:nvSpPr>
        <p:spPr>
          <a:xfrm>
            <a:off x="556532" y="643467"/>
            <a:ext cx="11210925" cy="744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u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 </a:t>
            </a:r>
            <a:endParaRPr sz="3200" b="0" u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200" b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3" name="Google Shape;153;p24"/>
          <p:cNvGraphicFramePr/>
          <p:nvPr>
            <p:extLst>
              <p:ext uri="{D42A27DB-BD31-4B8C-83A1-F6EECF244321}">
                <p14:modId xmlns:p14="http://schemas.microsoft.com/office/powerpoint/2010/main" val="1880391819"/>
              </p:ext>
            </p:extLst>
          </p:nvPr>
        </p:nvGraphicFramePr>
        <p:xfrm>
          <a:off x="48319" y="1396589"/>
          <a:ext cx="12192000" cy="3281335"/>
        </p:xfrm>
        <a:graphic>
          <a:graphicData uri="http://schemas.openxmlformats.org/drawingml/2006/table">
            <a:tbl>
              <a:tblPr>
                <a:solidFill>
                  <a:schemeClr val="lt1"/>
                </a:solidFill>
                <a:tableStyleId>{E0E27A81-01B2-4FB0-AFC1-3EEC9902F470}</a:tableStyleId>
              </a:tblPr>
              <a:tblGrid>
                <a:gridCol w="1622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2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64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34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96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834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b="1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sz="20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b="1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Paper</a:t>
                      </a:r>
                      <a:endParaRPr sz="20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b="1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sz="20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b="1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sz="20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b="1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Gaps in Literature</a:t>
                      </a:r>
                      <a:endParaRPr sz="20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299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Devlin J. et al</a:t>
                      </a:r>
                      <a:endParaRPr sz="2000" b="1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BERT: Pre-training of Deep Bidirectional Transformers for Language Understanding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Transformer-based deep learning model for contextual text classification.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accuracy in text classification and contextual understanding tasks.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General NLP model; not specifically designed for predatory journal detection.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endParaRPr sz="1800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>
            <a:spLocks noGrp="1"/>
          </p:cNvSpPr>
          <p:nvPr>
            <p:ph type="sldNum" idx="12"/>
          </p:nvPr>
        </p:nvSpPr>
        <p:spPr>
          <a:xfrm>
            <a:off x="1137339" y="9010996"/>
            <a:ext cx="10515240" cy="257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u="none" strike="noStrik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25"/>
          <p:cNvSpPr/>
          <p:nvPr/>
        </p:nvSpPr>
        <p:spPr>
          <a:xfrm>
            <a:off x="63720" y="136440"/>
            <a:ext cx="12063960" cy="683640"/>
          </a:xfrm>
          <a:prstGeom prst="rect">
            <a:avLst/>
          </a:prstGeom>
          <a:solidFill>
            <a:srgbClr val="E1EFD8"/>
          </a:solidFill>
          <a:ln>
            <a:noFill/>
          </a:ln>
        </p:spPr>
        <p:txBody>
          <a:bodyPr spcFirstLastPara="1" wrap="square" lIns="91425" tIns="45700" rIns="91425" bIns="45700" anchor="t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3000" b="1" u="none" strike="noStrik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25"/>
          <p:cNvSpPr txBox="1">
            <a:spLocks noGrp="1"/>
          </p:cNvSpPr>
          <p:nvPr>
            <p:ph type="body" idx="1"/>
          </p:nvPr>
        </p:nvSpPr>
        <p:spPr>
          <a:xfrm>
            <a:off x="709937" y="1155974"/>
            <a:ext cx="10515300" cy="3510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intelligent system to detect predatory publishing venues.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journal and conference website information automatically.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indexing claims, peer review policies, fees and editorial details.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Machine Learning and NLP techniques for classification.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whether a venue is Predatory or Legitimate.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simple and user-friendly interface for researchers.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the system is reliable and scalable.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>
            <a:spLocks noGrp="1"/>
          </p:cNvSpPr>
          <p:nvPr>
            <p:ph type="title"/>
          </p:nvPr>
        </p:nvSpPr>
        <p:spPr>
          <a:xfrm>
            <a:off x="644225" y="0"/>
            <a:ext cx="10709100" cy="15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3000" b="1" dirty="0"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  <a:endParaRPr sz="30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26"/>
          <p:cNvSpPr txBox="1">
            <a:spLocks noGrp="1"/>
          </p:cNvSpPr>
          <p:nvPr>
            <p:ph type="body" idx="1"/>
          </p:nvPr>
        </p:nvSpPr>
        <p:spPr>
          <a:xfrm>
            <a:off x="644225" y="1394873"/>
            <a:ext cx="10709100" cy="47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Currently: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authenticity is verified manually.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Researchers depend on online searches and personal judgment.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Indexing claims are checked individually.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Editorial board details are verified manually.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is time-consuming and confusing.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risk of misidentifying predatory venues.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automated detection system.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verification platform.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manual effort required.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Possibility of human error.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scalable for large number of journals.</a:t>
            </a:r>
          </a:p>
          <a:p>
            <a:pPr marL="0" marR="0" lvl="0" indent="0" algn="l" rtl="0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30"/>
              <a:buFont typeface="Arial"/>
              <a:buNone/>
            </a:pPr>
            <a:endParaRPr sz="253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 txBox="1">
            <a:spLocks noGrp="1"/>
          </p:cNvSpPr>
          <p:nvPr>
            <p:ph type="title"/>
          </p:nvPr>
        </p:nvSpPr>
        <p:spPr>
          <a:xfrm>
            <a:off x="838080" y="1112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sz="4400"/>
            </a:br>
            <a:endParaRPr sz="4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7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27"/>
          <p:cNvSpPr/>
          <p:nvPr/>
        </p:nvSpPr>
        <p:spPr>
          <a:xfrm>
            <a:off x="63720" y="0"/>
            <a:ext cx="12063960" cy="796531"/>
          </a:xfrm>
          <a:prstGeom prst="rect">
            <a:avLst/>
          </a:prstGeom>
          <a:solidFill>
            <a:srgbClr val="E1E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u="none" strike="noStrik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Modules</a:t>
            </a:r>
            <a:endParaRPr sz="3000" b="0" u="none" strike="noStrik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7"/>
          <p:cNvSpPr txBox="1">
            <a:spLocks noGrp="1"/>
          </p:cNvSpPr>
          <p:nvPr>
            <p:ph type="body" idx="1"/>
          </p:nvPr>
        </p:nvSpPr>
        <p:spPr>
          <a:xfrm>
            <a:off x="720000" y="3210336"/>
            <a:ext cx="10515240" cy="943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218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27"/>
          <p:cNvSpPr txBox="1"/>
          <p:nvPr/>
        </p:nvSpPr>
        <p:spPr>
          <a:xfrm>
            <a:off x="775575" y="944325"/>
            <a:ext cx="10735800" cy="5924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provides: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platform for journal verification.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extraction of journal and conference details.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classification of publishing venues.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of Predatory or Legitimate status.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 for researchers.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journal verification process.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manual effort.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detection accuracy.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safe publishing decisions.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reliable framework.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5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/>
          <p:nvPr/>
        </p:nvSpPr>
        <p:spPr>
          <a:xfrm>
            <a:off x="183100" y="258525"/>
            <a:ext cx="11364300" cy="4321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Functional Requirements</a:t>
            </a:r>
            <a:endParaRPr sz="3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2550" lvl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2300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User registration and login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Journal or conference URL submission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Automatic website data extraction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Feature extraction from collected data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Machine Learning-based classification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Prediction of Predatory or Legitimate status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/>
              <a:t>●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of user search history</a:t>
            </a:r>
            <a:endParaRPr sz="26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15633-2CFB-EB32-B334-E3281A8E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-2510444"/>
            <a:ext cx="10515240" cy="1346662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FE881-E648-FE56-0E4C-1BB367B3B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5142" y="0"/>
            <a:ext cx="10738178" cy="6176519"/>
          </a:xfrm>
        </p:spPr>
        <p:txBody>
          <a:bodyPr>
            <a:normAutofit/>
          </a:bodyPr>
          <a:lstStyle/>
          <a:p>
            <a:pPr marL="82550" lvl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2300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2300"/>
              <a:buNone/>
            </a:pPr>
            <a:r>
              <a:rPr lang="en-US" sz="3000" b="1" dirty="0">
                <a:latin typeface="Times New Roman"/>
                <a:ea typeface="Times New Roman"/>
                <a:cs typeface="Times New Roman"/>
                <a:sym typeface="Times New Roman"/>
              </a:rPr>
              <a:t>Non-Functional Requirements</a:t>
            </a:r>
          </a:p>
          <a:p>
            <a:pPr marL="0" lvl="0" indent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2300"/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Fast response time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Secure user authentication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High classification accuracy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Easy and simple user interface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Scalable system architecture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Reliable database management</a:t>
            </a:r>
            <a:endParaRPr lang="en-US" sz="26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1391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9"/>
          <p:cNvSpPr txBox="1"/>
          <p:nvPr/>
        </p:nvSpPr>
        <p:spPr>
          <a:xfrm>
            <a:off x="614000" y="384200"/>
            <a:ext cx="10987200" cy="6604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  <a:spcBef>
                <a:spcPts val="1800"/>
              </a:spcBef>
              <a:buClr>
                <a:schemeClr val="dk1"/>
              </a:buClr>
              <a:buSzPts val="1100"/>
            </a:pPr>
            <a:r>
              <a:rPr lang="en-US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Requirements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/>
                <a:cs typeface="Times New Roman"/>
              </a:rPr>
              <a:t>● Scikit-learn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/>
                <a:cs typeface="Times New Roman"/>
              </a:rPr>
              <a:t>● </a:t>
            </a:r>
            <a:r>
              <a:rPr lang="en-IN" sz="2600" dirty="0" err="1">
                <a:latin typeface="Times New Roman"/>
                <a:cs typeface="Times New Roman"/>
              </a:rPr>
              <a:t>BeautifulSoup</a:t>
            </a:r>
            <a:r>
              <a:rPr lang="en-IN" sz="2600" dirty="0">
                <a:latin typeface="Times New Roman"/>
                <a:cs typeface="Times New Roman"/>
              </a:rPr>
              <a:t> 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/>
                <a:cs typeface="Times New Roman"/>
              </a:rPr>
              <a:t>● TF-IDF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/>
                <a:cs typeface="Times New Roman"/>
              </a:rPr>
              <a:t>● BERT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/>
                <a:cs typeface="Times New Roman"/>
              </a:rPr>
              <a:t>● Flask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/>
                <a:cs typeface="Times New Roman"/>
              </a:rPr>
              <a:t>● SQLite</a:t>
            </a:r>
          </a:p>
          <a:p>
            <a:pPr lvl="0">
              <a:lnSpc>
                <a:spcPct val="115000"/>
              </a:lnSpc>
              <a:spcBef>
                <a:spcPts val="1800"/>
              </a:spcBef>
              <a:buClr>
                <a:schemeClr val="dk1"/>
              </a:buClr>
              <a:buSzPts val="1100"/>
            </a:pPr>
            <a:r>
              <a:rPr lang="en-US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Requirements</a:t>
            </a:r>
            <a:endParaRPr sz="3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25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2300"/>
            </a:pPr>
            <a:r>
              <a:rPr lang="en-IN" sz="2600" dirty="0">
                <a:latin typeface="Times New Roman"/>
                <a:cs typeface="Times New Roman"/>
              </a:rPr>
              <a:t>● i5/i7 Processor</a:t>
            </a:r>
            <a:br>
              <a:rPr lang="en-US" sz="2600" b="1" i="1" dirty="0">
                <a:latin typeface="Times New Roman"/>
                <a:ea typeface="Times New Roman"/>
                <a:cs typeface="Times New Roman"/>
              </a:rPr>
            </a:br>
            <a:r>
              <a:rPr lang="en-IN" sz="2600" dirty="0">
                <a:latin typeface="Times New Roman"/>
                <a:cs typeface="Times New Roman"/>
              </a:rPr>
              <a:t>● Minimum 8GB RAM</a:t>
            </a:r>
          </a:p>
          <a:p>
            <a:pPr marL="825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2300"/>
            </a:pPr>
            <a:endParaRPr sz="2000" b="1" i="1" dirty="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6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 txBox="1">
            <a:spLocks noGrp="1"/>
          </p:cNvSpPr>
          <p:nvPr>
            <p:ph type="title"/>
          </p:nvPr>
        </p:nvSpPr>
        <p:spPr>
          <a:xfrm>
            <a:off x="1460870" y="578882"/>
            <a:ext cx="105153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</a:pPr>
            <a:r>
              <a:rPr lang="en-US" sz="2500" b="1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ARCHITECTURAL DESIGN</a:t>
            </a:r>
            <a:endParaRPr sz="2500" dirty="0"/>
          </a:p>
        </p:txBody>
      </p:sp>
      <p:pic>
        <p:nvPicPr>
          <p:cNvPr id="191" name="Google Shape;191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AutoShape 4" descr="Generated image">
            <a:extLst>
              <a:ext uri="{FF2B5EF4-FFF2-40B4-BE49-F238E27FC236}">
                <a16:creationId xmlns:a16="http://schemas.microsoft.com/office/drawing/2014/main" id="{D53194E3-AD64-4D07-8911-143CD8E245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062EA7-24EC-044D-23AF-2E265FE6F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" y="925131"/>
            <a:ext cx="10228608" cy="54208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1"/>
          <p:cNvSpPr txBox="1"/>
          <p:nvPr/>
        </p:nvSpPr>
        <p:spPr>
          <a:xfrm>
            <a:off x="4496552" y="126475"/>
            <a:ext cx="3558900" cy="530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CASE DIAGRAM </a:t>
            </a:r>
            <a:endParaRPr sz="25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1" descr="A diagram of a journal detection system&#10;&#10;AI-generated content may be incorrect.">
            <a:extLst>
              <a:ext uri="{FF2B5EF4-FFF2-40B4-BE49-F238E27FC236}">
                <a16:creationId xmlns:a16="http://schemas.microsoft.com/office/drawing/2014/main" id="{370607EC-C965-7F90-E291-237F6B5C7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187" y="874184"/>
            <a:ext cx="9138103" cy="550877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/>
        </p:nvSpPr>
        <p:spPr>
          <a:xfrm>
            <a:off x="4496538" y="126475"/>
            <a:ext cx="3000000" cy="530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DIAGRAM </a:t>
            </a:r>
          </a:p>
        </p:txBody>
      </p:sp>
      <p:pic>
        <p:nvPicPr>
          <p:cNvPr id="2" name="Picture 1" descr="A diagram of a software process&#10;&#10;AI-generated content may be incorrect.">
            <a:extLst>
              <a:ext uri="{FF2B5EF4-FFF2-40B4-BE49-F238E27FC236}">
                <a16:creationId xmlns:a16="http://schemas.microsoft.com/office/drawing/2014/main" id="{0551D87E-683E-0708-672B-731A95F86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5103" y="641048"/>
            <a:ext cx="6141888" cy="556380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33"/>
          <p:cNvSpPr txBox="1"/>
          <p:nvPr/>
        </p:nvSpPr>
        <p:spPr>
          <a:xfrm>
            <a:off x="4450700" y="125950"/>
            <a:ext cx="3837600" cy="530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SEQUENCE DIAGRAM </a:t>
            </a:r>
            <a:endParaRPr sz="25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1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F7162D8C-899D-D9E3-BE43-EC21832A9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664" y="857250"/>
            <a:ext cx="10214577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4"/>
          <p:cNvSpPr/>
          <p:nvPr/>
        </p:nvSpPr>
        <p:spPr>
          <a:xfrm>
            <a:off x="0" y="-3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4"/>
          <p:cNvSpPr/>
          <p:nvPr/>
        </p:nvSpPr>
        <p:spPr>
          <a:xfrm flipH="1">
            <a:off x="10208496" y="0"/>
            <a:ext cx="1983504" cy="6858000"/>
          </a:xfrm>
          <a:custGeom>
            <a:avLst/>
            <a:gdLst/>
            <a:ahLst/>
            <a:cxnLst/>
            <a:rect l="l" t="t" r="r" b="b"/>
            <a:pathLst>
              <a:path w="1983504" h="6858000" extrusionOk="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dk2">
              <a:alpha val="5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4"/>
          <p:cNvSpPr txBox="1"/>
          <p:nvPr/>
        </p:nvSpPr>
        <p:spPr>
          <a:xfrm>
            <a:off x="1124275" y="449700"/>
            <a:ext cx="3600600" cy="530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ACTIVITY DIAGRAM </a:t>
            </a:r>
            <a:endParaRPr sz="25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1" descr="A flowchart of a program&#10;&#10;AI-generated content may be incorrect.">
            <a:extLst>
              <a:ext uri="{FF2B5EF4-FFF2-40B4-BE49-F238E27FC236}">
                <a16:creationId xmlns:a16="http://schemas.microsoft.com/office/drawing/2014/main" id="{C951012A-E081-AE85-B9C0-4C7273552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875" y="238125"/>
            <a:ext cx="4981575" cy="66198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5"/>
          <p:cNvSpPr/>
          <p:nvPr/>
        </p:nvSpPr>
        <p:spPr>
          <a:xfrm rot="-2700000" flipH="1">
            <a:off x="-376156" y="-253670"/>
            <a:ext cx="1827638" cy="1376989"/>
          </a:xfrm>
          <a:custGeom>
            <a:avLst/>
            <a:gdLst/>
            <a:ahLst/>
            <a:cxnLst/>
            <a:rect l="l" t="t" r="r" b="b"/>
            <a:pathLst>
              <a:path w="1827638" h="1376989" extrusionOk="0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5"/>
          <p:cNvSpPr/>
          <p:nvPr/>
        </p:nvSpPr>
        <p:spPr>
          <a:xfrm rot="-27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5"/>
          <p:cNvSpPr/>
          <p:nvPr/>
        </p:nvSpPr>
        <p:spPr>
          <a:xfrm rot="-27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5"/>
          <p:cNvSpPr/>
          <p:nvPr/>
        </p:nvSpPr>
        <p:spPr>
          <a:xfrm rot="10800000" flipH="1">
            <a:off x="9356643" y="0"/>
            <a:ext cx="2835357" cy="1480837"/>
          </a:xfrm>
          <a:custGeom>
            <a:avLst/>
            <a:gdLst/>
            <a:ahLst/>
            <a:cxnLst/>
            <a:rect l="l" t="t" r="r" b="b"/>
            <a:pathLst>
              <a:path w="2835357" h="1480837" extrusionOk="0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5"/>
          <p:cNvSpPr/>
          <p:nvPr/>
        </p:nvSpPr>
        <p:spPr>
          <a:xfrm flipH="1">
            <a:off x="7976344" y="6115501"/>
            <a:ext cx="1494513" cy="742499"/>
          </a:xfrm>
          <a:prstGeom prst="triangle">
            <a:avLst>
              <a:gd name="adj" fmla="val 50000"/>
            </a:avLst>
          </a:prstGeom>
          <a:solidFill>
            <a:schemeClr val="accent1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5"/>
          <p:cNvSpPr/>
          <p:nvPr/>
        </p:nvSpPr>
        <p:spPr>
          <a:xfrm flipH="1">
            <a:off x="7604080" y="6453143"/>
            <a:ext cx="814903" cy="404857"/>
          </a:xfrm>
          <a:prstGeom prst="triangle">
            <a:avLst>
              <a:gd name="adj" fmla="val 50000"/>
            </a:avLst>
          </a:prstGeom>
          <a:solidFill>
            <a:schemeClr val="accent1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5"/>
          <p:cNvSpPr txBox="1"/>
          <p:nvPr/>
        </p:nvSpPr>
        <p:spPr>
          <a:xfrm>
            <a:off x="4596000" y="288485"/>
            <a:ext cx="3986436" cy="530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DIAGRAM </a:t>
            </a:r>
            <a:endParaRPr sz="25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1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2CE69B78-33B8-C37A-2FB5-E88844A7C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728" y="1195311"/>
            <a:ext cx="7684195" cy="492804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9E7844-3882-553E-5FF9-A4E5C40EB19C}"/>
              </a:ext>
            </a:extLst>
          </p:cNvPr>
          <p:cNvSpPr txBox="1"/>
          <p:nvPr/>
        </p:nvSpPr>
        <p:spPr>
          <a:xfrm>
            <a:off x="963386" y="506185"/>
            <a:ext cx="178766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3491A2-5EAB-7A37-0535-8AAAE09E8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841" y="1174483"/>
            <a:ext cx="4900168" cy="23551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8AC570-103B-68D2-5C17-70A573B8B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41" y="3720462"/>
            <a:ext cx="4900168" cy="23306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C758EA-E395-E5D3-F658-E0420AA4DE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5129" y="1174484"/>
            <a:ext cx="4684709" cy="22545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03599B-A362-4768-1CDD-96FB0B85CF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5128" y="3720461"/>
            <a:ext cx="4684709" cy="233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4351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6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sz="12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" name="Google Shape;241;p36"/>
          <p:cNvSpPr/>
          <p:nvPr/>
        </p:nvSpPr>
        <p:spPr>
          <a:xfrm>
            <a:off x="0" y="-1"/>
            <a:ext cx="12191760" cy="845687"/>
          </a:xfrm>
          <a:prstGeom prst="rect">
            <a:avLst/>
          </a:prstGeom>
          <a:solidFill>
            <a:srgbClr val="E1E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u="none" strike="noStrik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3000" b="0" u="none" strike="noStrik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2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6"/>
          <p:cNvSpPr txBox="1">
            <a:spLocks noGrp="1"/>
          </p:cNvSpPr>
          <p:nvPr>
            <p:ph type="body" idx="1"/>
          </p:nvPr>
        </p:nvSpPr>
        <p:spPr>
          <a:xfrm>
            <a:off x="572280" y="1555160"/>
            <a:ext cx="11047200" cy="49449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sz="2600" b="1" dirty="0" err="1">
                <a:latin typeface="Times New Roman"/>
                <a:cs typeface="Times New Roman"/>
              </a:rPr>
              <a:t>Shamseer</a:t>
            </a:r>
            <a:r>
              <a:rPr lang="en-US" sz="2600" b="1" dirty="0">
                <a:latin typeface="Times New Roman"/>
                <a:cs typeface="Times New Roman"/>
              </a:rPr>
              <a:t> L. et al.</a:t>
            </a:r>
            <a:r>
              <a:rPr lang="en-US" sz="2600" dirty="0">
                <a:latin typeface="Times New Roman"/>
                <a:cs typeface="Times New Roman"/>
              </a:rPr>
              <a:t> “Potential Predatory and Legitimate Biomedical Journals: A Comparative Study” –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/>
                <a:cs typeface="Times New Roman"/>
                <a:hlinkClick r:id="rId3"/>
              </a:rPr>
              <a:t>https://bmcmedicine.biomedcentral.com/articles/10.1186/s12916-017-0785-9</a:t>
            </a:r>
            <a:endParaRPr lang="en-US" sz="2600" dirty="0">
              <a:latin typeface="Times New Roman"/>
              <a:cs typeface="Times New Roman"/>
            </a:endParaRPr>
          </a:p>
          <a:p>
            <a:r>
              <a:rPr lang="en-US" sz="2600" b="1" dirty="0">
                <a:latin typeface="Times New Roman"/>
                <a:cs typeface="Times New Roman"/>
              </a:rPr>
              <a:t>Devlin, J. et al.</a:t>
            </a:r>
            <a:r>
              <a:rPr lang="en-US" sz="2600" dirty="0">
                <a:latin typeface="Times New Roman"/>
                <a:cs typeface="Times New Roman"/>
              </a:rPr>
              <a:t> “BERT: Pre-training of Deep Bidirectional Transformers for Language Understanding” –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/>
                <a:cs typeface="Times New Roman"/>
                <a:hlinkClick r:id="rId4"/>
              </a:rPr>
              <a:t>https://aclanthology.org/N19-1423/</a:t>
            </a:r>
            <a:endParaRPr lang="en-US" sz="2600" dirty="0">
              <a:latin typeface="Times New Roman"/>
              <a:cs typeface="Times New Roman"/>
            </a:endParaRPr>
          </a:p>
          <a:p>
            <a:r>
              <a:rPr lang="en-US" sz="2600" dirty="0">
                <a:latin typeface="Times New Roman"/>
                <a:cs typeface="Times New Roman"/>
              </a:rPr>
              <a:t>Beall, J. (2012). Predatory publishers are corrupting open access. Nature.</a:t>
            </a:r>
            <a:r>
              <a:rPr lang="en-US" sz="2600" dirty="0">
                <a:latin typeface="Times New Roman"/>
                <a:cs typeface="Times New Roman"/>
                <a:hlinkClick r:id="rId5"/>
              </a:rPr>
              <a:t>https://beallslist.net</a:t>
            </a:r>
            <a:endParaRPr lang="en-US" sz="2600" dirty="0">
              <a:latin typeface="Times New Roman"/>
              <a:cs typeface="Times New Roman"/>
            </a:endParaRPr>
          </a:p>
          <a:p>
            <a:r>
              <a:rPr lang="en-US" sz="2600" dirty="0">
                <a:latin typeface="Times New Roman"/>
                <a:cs typeface="Times New Roman"/>
              </a:rPr>
              <a:t>Dadkhah, M. et al. Machine Learning methods for predatory journal detection https://ieeexplore.ieee.org/document/8269414</a:t>
            </a:r>
            <a:endParaRPr sz="2600" dirty="0">
              <a:latin typeface="Times New Roman"/>
              <a:cs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latin typeface="Times New Roman"/>
              <a:cs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Course of Actions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9" name="Google Shape;249;p37"/>
          <p:cNvSpPr/>
          <p:nvPr/>
        </p:nvSpPr>
        <p:spPr>
          <a:xfrm>
            <a:off x="669036" y="1677373"/>
            <a:ext cx="10853928" cy="18288"/>
          </a:xfrm>
          <a:custGeom>
            <a:avLst/>
            <a:gdLst/>
            <a:ahLst/>
            <a:cxnLst/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7"/>
          <p:cNvSpPr txBox="1">
            <a:spLocks noGrp="1"/>
          </p:cNvSpPr>
          <p:nvPr>
            <p:ph type="body" idx="1"/>
          </p:nvPr>
        </p:nvSpPr>
        <p:spPr>
          <a:xfrm>
            <a:off x="669036" y="1979707"/>
            <a:ext cx="10515600" cy="277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5080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Include detection of fake conference invitations.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Improve model accuracy using advanced deep learning techniques.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Add browser extension for quick journal verification.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Support multi-language website analysis.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Develop a public API for institutional use.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Deploy the system on cloud platform.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Build a centralized global predatory journal database.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8"/>
          <p:cNvSpPr/>
          <p:nvPr/>
        </p:nvSpPr>
        <p:spPr>
          <a:xfrm>
            <a:off x="4354034" y="2071419"/>
            <a:ext cx="4975200" cy="310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8"/>
          <p:cNvSpPr txBox="1">
            <a:spLocks noGrp="1"/>
          </p:cNvSpPr>
          <p:nvPr>
            <p:ph type="title"/>
          </p:nvPr>
        </p:nvSpPr>
        <p:spPr>
          <a:xfrm>
            <a:off x="3373499" y="2158350"/>
            <a:ext cx="4900751" cy="15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7" name="Google Shape;257;p38"/>
          <p:cNvCxnSpPr/>
          <p:nvPr/>
        </p:nvCxnSpPr>
        <p:spPr>
          <a:xfrm>
            <a:off x="3580450" y="3111375"/>
            <a:ext cx="4693800" cy="0"/>
          </a:xfrm>
          <a:prstGeom prst="straightConnector1">
            <a:avLst/>
          </a:prstGeom>
          <a:noFill/>
          <a:ln w="571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1073</Words>
  <Application>Microsoft Office PowerPoint</Application>
  <PresentationFormat>Widescreen</PresentationFormat>
  <Paragraphs>114</Paragraphs>
  <Slides>22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Times New Roman</vt:lpstr>
      <vt:lpstr>Office Theme</vt:lpstr>
      <vt:lpstr>Office Theme</vt:lpstr>
      <vt:lpstr>Intelligent Framework for Detecting Predatory Publishing Venues</vt:lpstr>
      <vt:lpstr>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Existing System</vt:lpstr>
      <vt:lpstr>  </vt:lpstr>
      <vt:lpstr>PowerPoint Presentation</vt:lpstr>
      <vt:lpstr>PowerPoint Presentation</vt:lpstr>
      <vt:lpstr>PowerPoint Presentation</vt:lpstr>
      <vt:lpstr>                                        ARCHITECTURAL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Future Course of Actions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Pranav D</dc:creator>
  <cp:lastModifiedBy>SRICHARANPRANAV DODDASOMAYAJULU</cp:lastModifiedBy>
  <cp:revision>130</cp:revision>
  <cp:lastPrinted>2026-03-27T17:00:21Z</cp:lastPrinted>
  <dcterms:modified xsi:type="dcterms:W3CDTF">2026-04-10T05:45:05Z</dcterms:modified>
</cp:coreProperties>
</file>